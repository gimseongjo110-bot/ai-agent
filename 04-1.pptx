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custShowLst>
    <p:custShow name="K-Culture" id="0">
      <p:sldLst>
        <p:sld r:id="rId2"/>
        <p:sld r:id="rId4"/>
        <p:sld r:id="rId5"/>
        <p:sld r:id="rId6"/>
        <p:sld r:id="rId7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8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3" d="100"/>
        <a:sy n="53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1460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/>
              <a:t>한국관광 선호도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선호도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베트남</c:v>
                </c:pt>
                <c:pt idx="1">
                  <c:v>태국</c:v>
                </c:pt>
                <c:pt idx="2">
                  <c:v>중국</c:v>
                </c:pt>
                <c:pt idx="3">
                  <c:v>인도네시아</c:v>
                </c:pt>
                <c:pt idx="4">
                  <c:v>필리핀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85.6</c:v>
                </c:pt>
                <c:pt idx="1">
                  <c:v>81.8</c:v>
                </c:pt>
                <c:pt idx="2">
                  <c:v>77.400000000000006</c:v>
                </c:pt>
                <c:pt idx="3">
                  <c:v>87.3</c:v>
                </c:pt>
                <c:pt idx="4">
                  <c:v>87.8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A4-421F-A4D6-6F17902ECE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2537759"/>
        <c:axId val="212546879"/>
      </c:barChart>
      <c:catAx>
        <c:axId val="2125377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2546879"/>
        <c:crosses val="autoZero"/>
        <c:auto val="1"/>
        <c:lblAlgn val="ctr"/>
        <c:lblOffset val="100"/>
        <c:noMultiLvlLbl val="0"/>
      </c:catAx>
      <c:valAx>
        <c:axId val="2125468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25377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C72EB4-02FA-4929-B7B5-42F48D1A9044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199B41-81FE-4687-B7B7-14D0C71C71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6410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99B41-81FE-4687-B7B7-14D0C71C710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433852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986F-D4BE-4822-8504-5E0D90DA6053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EDD0-E937-4910-A689-D46DDB54A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639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986F-D4BE-4822-8504-5E0D90DA6053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EDD0-E937-4910-A689-D46DDB54A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084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986F-D4BE-4822-8504-5E0D90DA6053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EDD0-E937-4910-A689-D46DDB54A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160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986F-D4BE-4822-8504-5E0D90DA6053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EDD0-E937-4910-A689-D46DDB54A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272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986F-D4BE-4822-8504-5E0D90DA6053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EDD0-E937-4910-A689-D46DDB54A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311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986F-D4BE-4822-8504-5E0D90DA6053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EDD0-E937-4910-A689-D46DDB54A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91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986F-D4BE-4822-8504-5E0D90DA6053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EDD0-E937-4910-A689-D46DDB54A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128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986F-D4BE-4822-8504-5E0D90DA6053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EDD0-E937-4910-A689-D46DDB54A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166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986F-D4BE-4822-8504-5E0D90DA6053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EDD0-E937-4910-A689-D46DDB54A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768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986F-D4BE-4822-8504-5E0D90DA6053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EDD0-E937-4910-A689-D46DDB54A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540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986F-D4BE-4822-8504-5E0D90DA6053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EDD0-E937-4910-A689-D46DDB54A80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015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986F-D4BE-4822-8504-5E0D90DA6053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EDD0-E937-4910-A689-D46DDB54A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500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986F-D4BE-4822-8504-5E0D90DA6053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EDD0-E937-4910-A689-D46DDB54A80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36162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986F-D4BE-4822-8504-5E0D90DA6053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EDD0-E937-4910-A689-D46DDB54A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7494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986F-D4BE-4822-8504-5E0D90DA6053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EDD0-E937-4910-A689-D46DDB54A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4165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986F-D4BE-4822-8504-5E0D90DA6053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EDD0-E937-4910-A689-D46DDB54A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317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1986F-D4BE-4822-8504-5E0D90DA6053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DFEDD0-E937-4910-A689-D46DDB54A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7062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8CA6DB-9660-C8AB-9899-04ED35668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337" y="1265314"/>
            <a:ext cx="4299666" cy="3249131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K-Culture</a:t>
            </a:r>
            <a:endParaRPr lang="ko-KR" altLang="en-US"/>
          </a:p>
        </p:txBody>
      </p:sp>
      <p:sp>
        <p:nvSpPr>
          <p:cNvPr id="20" name="Isosceles Triangle 8">
            <a:extLst>
              <a:ext uri="{FF2B5EF4-FFF2-40B4-BE49-F238E27FC236}">
                <a16:creationId xmlns:a16="http://schemas.microsoft.com/office/drawing/2014/main" id="{5A7802B6-FF37-40CF-A7E2-6F2A0D9A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21" name="Graphic 5" descr="드라마">
            <a:extLst>
              <a:ext uri="{FF2B5EF4-FFF2-40B4-BE49-F238E27FC236}">
                <a16:creationId xmlns:a16="http://schemas.microsoft.com/office/drawing/2014/main" id="{BBB989C8-B8CF-A948-BFBE-C0ADCC754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4" y="1550139"/>
            <a:ext cx="3765692" cy="37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631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514FFA56-A2A5-8AB6-21F6-5AAEA74DF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K-Culture </a:t>
            </a:r>
            <a:r>
              <a:rPr lang="ko-KR" altLang="en-US" dirty="0"/>
              <a:t>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18FC70-0BDB-E660-A0E7-D800514B4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816638"/>
            <a:ext cx="4619706" cy="5224724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K-Culture:</a:t>
            </a:r>
            <a:r>
              <a:rPr lang="ko-KR" altLang="en-US" dirty="0"/>
              <a:t> 한국</a:t>
            </a:r>
            <a:r>
              <a:rPr lang="en-US" altLang="ko-KR" dirty="0"/>
              <a:t>(Korea) +  </a:t>
            </a:r>
            <a:r>
              <a:rPr lang="ko-KR" altLang="en-US" dirty="0"/>
              <a:t>문화</a:t>
            </a:r>
            <a:r>
              <a:rPr lang="en-US" altLang="ko-KR" dirty="0"/>
              <a:t>(Culture)</a:t>
            </a:r>
          </a:p>
          <a:p>
            <a:r>
              <a:rPr lang="ko-KR" altLang="en-US" dirty="0"/>
              <a:t>전통문화부터 현대 대중문화까지 포괄하는 개념</a:t>
            </a:r>
            <a:endParaRPr lang="en-US" altLang="ko-KR" dirty="0"/>
          </a:p>
          <a:p>
            <a:r>
              <a:rPr lang="ko-KR" altLang="en-US" dirty="0"/>
              <a:t>최근 </a:t>
            </a:r>
            <a:r>
              <a:rPr lang="en-US" altLang="ko-KR" dirty="0"/>
              <a:t>K-</a:t>
            </a:r>
            <a:r>
              <a:rPr lang="ko-KR" altLang="en-US" dirty="0"/>
              <a:t>팝</a:t>
            </a:r>
            <a:r>
              <a:rPr lang="en-US" altLang="ko-KR" dirty="0"/>
              <a:t>, K-</a:t>
            </a:r>
            <a:r>
              <a:rPr lang="ko-KR" altLang="en-US" dirty="0"/>
              <a:t>드라마</a:t>
            </a:r>
            <a:r>
              <a:rPr lang="en-US" altLang="ko-KR" dirty="0"/>
              <a:t>, K-</a:t>
            </a:r>
            <a:r>
              <a:rPr lang="ko-KR" altLang="en-US" dirty="0"/>
              <a:t>뷰티</a:t>
            </a:r>
            <a:r>
              <a:rPr lang="en-US" altLang="ko-KR" dirty="0"/>
              <a:t>, K-</a:t>
            </a:r>
            <a:r>
              <a:rPr lang="ko-KR" altLang="en-US" dirty="0" err="1"/>
              <a:t>푸드</a:t>
            </a:r>
            <a:r>
              <a:rPr lang="ko-KR" altLang="en-US" dirty="0"/>
              <a:t> 등 다양한 분야</a:t>
            </a:r>
            <a:endParaRPr lang="en-US" altLang="ko-KR" dirty="0"/>
          </a:p>
          <a:p>
            <a:r>
              <a:rPr lang="ko-KR" altLang="en-US" dirty="0"/>
              <a:t>전세계적으로 인기를 얻으며 글로벌 트렌드로 자리 잡음</a:t>
            </a:r>
          </a:p>
        </p:txBody>
      </p:sp>
    </p:spTree>
    <p:extLst>
      <p:ext uri="{BB962C8B-B14F-4D97-AF65-F5344CB8AC3E}">
        <p14:creationId xmlns:p14="http://schemas.microsoft.com/office/powerpoint/2010/main" val="2587940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82E58-BAFD-C584-0CA7-37809ECC0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en-US" altLang="ko-KR"/>
              <a:t>K-POP</a:t>
            </a:r>
            <a:endParaRPr lang="ko-KR" altLang="en-US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E36E248-8840-17DB-CCD0-826A1F477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/>
          </a:bodyPr>
          <a:lstStyle/>
          <a:p>
            <a:r>
              <a:rPr lang="en-US" altLang="ko-KR"/>
              <a:t>K-POP</a:t>
            </a:r>
            <a:r>
              <a:rPr lang="ko-KR" altLang="en-US"/>
              <a:t>은 한국의 대중음악을 의미</a:t>
            </a:r>
            <a:endParaRPr lang="en-US" altLang="ko-KR"/>
          </a:p>
          <a:p>
            <a:r>
              <a:rPr lang="ko-KR" altLang="en-US"/>
              <a:t>화려한 퍼포먼스</a:t>
            </a:r>
            <a:r>
              <a:rPr lang="en-US" altLang="ko-KR"/>
              <a:t>, </a:t>
            </a:r>
            <a:r>
              <a:rPr lang="ko-KR" altLang="en-US"/>
              <a:t>중독성 있는 멜로디</a:t>
            </a:r>
            <a:r>
              <a:rPr lang="en-US" altLang="ko-KR"/>
              <a:t>, </a:t>
            </a:r>
            <a:r>
              <a:rPr lang="ko-KR" altLang="en-US"/>
              <a:t>뛰어난 프로듀싱</a:t>
            </a:r>
          </a:p>
          <a:p>
            <a:endParaRPr lang="ko-KR" altLang="en-US"/>
          </a:p>
        </p:txBody>
      </p:sp>
      <p:pic>
        <p:nvPicPr>
          <p:cNvPr id="35" name="그림 34" descr="복고풍 마이크">
            <a:extLst>
              <a:ext uri="{FF2B5EF4-FFF2-40B4-BE49-F238E27FC236}">
                <a16:creationId xmlns:a16="http://schemas.microsoft.com/office/drawing/2014/main" id="{00733293-65DD-57DC-655E-F1EFC2E97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91" r="-2" b="-2"/>
          <a:stretch/>
        </p:blipFill>
        <p:spPr bwMode="auto"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7855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C272A4-3338-9C2B-B1F4-A023771C2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</a:t>
            </a:r>
            <a:r>
              <a:rPr lang="ko-KR" altLang="en-US" dirty="0"/>
              <a:t>드라마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1A5A66-6BB7-7CCE-3FEF-4AD93322F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743200"/>
            <a:ext cx="8596668" cy="3298162"/>
          </a:xfrm>
        </p:spPr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A58D46-9753-A2DA-9EB2-2945421F79CF}"/>
              </a:ext>
            </a:extLst>
          </p:cNvPr>
          <p:cNvSpPr txBox="1"/>
          <p:nvPr/>
        </p:nvSpPr>
        <p:spPr>
          <a:xfrm>
            <a:off x="677334" y="1750853"/>
            <a:ext cx="8596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92D050"/>
              </a:buClr>
              <a:buFont typeface="Wingdings 3" panose="05040102010807070707" pitchFamily="18" charset="2"/>
              <a:buChar char=""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한국 드라마는 감성적인 스토리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뛰어난 연출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개성 있는 캐릭터가 강점</a:t>
            </a:r>
          </a:p>
        </p:txBody>
      </p:sp>
    </p:spTree>
    <p:extLst>
      <p:ext uri="{BB962C8B-B14F-4D97-AF65-F5344CB8AC3E}">
        <p14:creationId xmlns:p14="http://schemas.microsoft.com/office/powerpoint/2010/main" val="339091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429BEB3-6528-F8E2-0015-B416F0678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3843375" cy="5175624"/>
          </a:xfrm>
        </p:spPr>
        <p:txBody>
          <a:bodyPr anchor="ctr">
            <a:normAutofit/>
          </a:bodyPr>
          <a:lstStyle/>
          <a:p>
            <a:r>
              <a:rPr lang="en-US" altLang="ko-KR">
                <a:solidFill>
                  <a:schemeClr val="tx1">
                    <a:lumMod val="85000"/>
                    <a:lumOff val="15000"/>
                  </a:schemeClr>
                </a:solidFill>
              </a:rPr>
              <a:t>K-</a:t>
            </a:r>
            <a:r>
              <a:rPr lang="ko-KR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뷰티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0AD38B-7854-ACB2-00A4-2571BAEA3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609601"/>
            <a:ext cx="5511296" cy="2438399"/>
          </a:xfrm>
        </p:spPr>
        <p:txBody>
          <a:bodyPr anchor="ctr">
            <a:normAutofit/>
          </a:bodyPr>
          <a:lstStyle/>
          <a:p>
            <a:r>
              <a:rPr lang="en-US" altLang="ko-KR" dirty="0">
                <a:solidFill>
                  <a:srgbClr val="FFFFFF"/>
                </a:solidFill>
              </a:rPr>
              <a:t>K-</a:t>
            </a:r>
            <a:r>
              <a:rPr lang="ko-KR" altLang="en-US" dirty="0">
                <a:solidFill>
                  <a:srgbClr val="FFFFFF"/>
                </a:solidFill>
              </a:rPr>
              <a:t>뷰티는 자연스러운 메이크업과 스킨케어 중심의 화장품 브랜드들이 해외에서 큰 인기</a:t>
            </a:r>
            <a:endParaRPr lang="en-US" altLang="ko-KR" dirty="0">
              <a:solidFill>
                <a:srgbClr val="FFFFFF"/>
              </a:solidFill>
            </a:endParaRPr>
          </a:p>
          <a:p>
            <a:r>
              <a:rPr lang="en-US" altLang="ko-KR" dirty="0">
                <a:solidFill>
                  <a:srgbClr val="FFFFFF"/>
                </a:solidFill>
              </a:rPr>
              <a:t>K-</a:t>
            </a:r>
            <a:r>
              <a:rPr lang="ko-KR" altLang="en-US" dirty="0">
                <a:solidFill>
                  <a:srgbClr val="FFFFFF"/>
                </a:solidFill>
              </a:rPr>
              <a:t>패션 역시 독창적인 스타일과 한류 스타들의 영향으로 세계적인 관심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FF1BE01C-8E54-5E56-3194-BFBF7378DA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451793"/>
              </p:ext>
            </p:extLst>
          </p:nvPr>
        </p:nvGraphicFramePr>
        <p:xfrm>
          <a:off x="5918791" y="3153092"/>
          <a:ext cx="5965950" cy="3628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8650">
                  <a:extLst>
                    <a:ext uri="{9D8B030D-6E8A-4147-A177-3AD203B41FA5}">
                      <a16:colId xmlns:a16="http://schemas.microsoft.com/office/drawing/2014/main" val="840311595"/>
                    </a:ext>
                  </a:extLst>
                </a:gridCol>
                <a:gridCol w="1988650">
                  <a:extLst>
                    <a:ext uri="{9D8B030D-6E8A-4147-A177-3AD203B41FA5}">
                      <a16:colId xmlns:a16="http://schemas.microsoft.com/office/drawing/2014/main" val="59699676"/>
                    </a:ext>
                  </a:extLst>
                </a:gridCol>
                <a:gridCol w="1988650">
                  <a:extLst>
                    <a:ext uri="{9D8B030D-6E8A-4147-A177-3AD203B41FA5}">
                      <a16:colId xmlns:a16="http://schemas.microsoft.com/office/drawing/2014/main" val="3147178648"/>
                    </a:ext>
                  </a:extLst>
                </a:gridCol>
              </a:tblGrid>
              <a:tr h="453588">
                <a:tc>
                  <a:txBody>
                    <a:bodyPr/>
                    <a:lstStyle/>
                    <a:p>
                      <a:pPr algn="l"/>
                      <a:r>
                        <a:rPr lang="ko-KR" altLang="en-US" dirty="0"/>
                        <a:t>연도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수출액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억 달러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성장률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87335"/>
                  </a:ext>
                </a:extLst>
              </a:tr>
              <a:tr h="45358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2018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6.3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13%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21365"/>
                  </a:ext>
                </a:extLst>
              </a:tr>
              <a:tr h="45358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2019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6.5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3%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97669"/>
                  </a:ext>
                </a:extLst>
              </a:tr>
              <a:tr h="45358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2020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7.6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17%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182906"/>
                  </a:ext>
                </a:extLst>
              </a:tr>
              <a:tr h="45358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2021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9.2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21%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006437"/>
                  </a:ext>
                </a:extLst>
              </a:tr>
              <a:tr h="45358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2022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8.5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-7.6%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858034"/>
                  </a:ext>
                </a:extLst>
              </a:tr>
              <a:tr h="45358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2023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8.46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-0.5%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863186"/>
                  </a:ext>
                </a:extLst>
              </a:tr>
              <a:tr h="45358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2024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10.2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20.6%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465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63927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1" name="Straight Connector 8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3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5" name="Isosceles Triangle 12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33" name="Isosceles Triangle 16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35" name="Isosceles Triangle 17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179DE42-5613-4B35-A1E6-6CCBAA13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898B32-3891-4C3A-8F58-C5969D2E9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48300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E4806D-B8F9-4679-A68A-9BD21C01A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7175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3">
            <a:extLst>
              <a:ext uri="{FF2B5EF4-FFF2-40B4-BE49-F238E27FC236}">
                <a16:creationId xmlns:a16="http://schemas.microsoft.com/office/drawing/2014/main" id="{52FB45E9-914E-4471-AC87-E475CD5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8764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C310626D-5743-49D4-8F7D-88C4F8F05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0730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C195FC1-B568-4C72-9902-34CB35D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9621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EF2BDF77-362C-43F0-8CBB-A969EC2AE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1788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4BE96B01-3929-432D-B8C2-ADBCB74C2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48954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A6FCDE6-CDE2-4C51-B18E-A95CFB679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6287" y="-8467"/>
            <a:ext cx="9175713" cy="6866467"/>
          </a:xfrm>
          <a:custGeom>
            <a:avLst/>
            <a:gdLst>
              <a:gd name="connsiteX0" fmla="*/ 0 w 9175713"/>
              <a:gd name="connsiteY0" fmla="*/ 0 h 6866467"/>
              <a:gd name="connsiteX1" fmla="*/ 1249825 w 9175713"/>
              <a:gd name="connsiteY1" fmla="*/ 0 h 6866467"/>
              <a:gd name="connsiteX2" fmla="*/ 1249825 w 9175713"/>
              <a:gd name="connsiteY2" fmla="*/ 8467 h 6866467"/>
              <a:gd name="connsiteX3" fmla="*/ 9175713 w 9175713"/>
              <a:gd name="connsiteY3" fmla="*/ 8467 h 6866467"/>
              <a:gd name="connsiteX4" fmla="*/ 9175713 w 9175713"/>
              <a:gd name="connsiteY4" fmla="*/ 6866467 h 6866467"/>
              <a:gd name="connsiteX5" fmla="*/ 1249825 w 9175713"/>
              <a:gd name="connsiteY5" fmla="*/ 6866467 h 6866467"/>
              <a:gd name="connsiteX6" fmla="*/ 1109382 w 9175713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5713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9175713" y="8467"/>
                </a:lnTo>
                <a:lnTo>
                  <a:pt x="9175713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3E6163A-F08F-2E8B-6172-B4C72ABE9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34" y="626236"/>
            <a:ext cx="6960759" cy="1712242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6000" dirty="0">
                <a:solidFill>
                  <a:srgbClr val="FFFFFF"/>
                </a:solidFill>
              </a:rPr>
              <a:t>K-</a:t>
            </a:r>
            <a:r>
              <a:rPr lang="ko-KR" altLang="en-US" sz="6000" dirty="0">
                <a:solidFill>
                  <a:srgbClr val="FFFFFF"/>
                </a:solidFill>
              </a:rPr>
              <a:t>웹툰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288C63-9EF0-1016-D6FA-AD756977B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914" y="2895565"/>
            <a:ext cx="6112077" cy="11861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latinLnBrk="0">
              <a:buNone/>
            </a:pPr>
            <a:r>
              <a:rPr lang="ko-KR" altLang="en-US" dirty="0">
                <a:solidFill>
                  <a:srgbClr val="FFFFFF">
                    <a:alpha val="70000"/>
                  </a:srgbClr>
                </a:solidFill>
              </a:rPr>
              <a:t>웹툰과 게임 산업도 </a:t>
            </a:r>
            <a:r>
              <a:rPr lang="en-US" altLang="ko-KR" dirty="0">
                <a:solidFill>
                  <a:srgbClr val="FFFFFF">
                    <a:alpha val="70000"/>
                  </a:srgbClr>
                </a:solidFill>
              </a:rPr>
              <a:t>K-Culture</a:t>
            </a:r>
            <a:r>
              <a:rPr lang="ko-KR" altLang="en-US" dirty="0">
                <a:solidFill>
                  <a:srgbClr val="FFFFFF">
                    <a:alpha val="70000"/>
                  </a:srgbClr>
                </a:solidFill>
              </a:rPr>
              <a:t>의 중요한 부분으로 자리 잡음</a:t>
            </a:r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9D2E8756-2465-473A-BA2A-2DB1D6224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062562" y="3271487"/>
            <a:ext cx="220660" cy="186439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BFEBFF8-4D7A-E779-4C70-AFC8A16C0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086692"/>
              </p:ext>
            </p:extLst>
          </p:nvPr>
        </p:nvGraphicFramePr>
        <p:xfrm>
          <a:off x="4944197" y="3837087"/>
          <a:ext cx="663608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029">
                  <a:extLst>
                    <a:ext uri="{9D8B030D-6E8A-4147-A177-3AD203B41FA5}">
                      <a16:colId xmlns:a16="http://schemas.microsoft.com/office/drawing/2014/main" val="1782069233"/>
                    </a:ext>
                  </a:extLst>
                </a:gridCol>
                <a:gridCol w="2212029">
                  <a:extLst>
                    <a:ext uri="{9D8B030D-6E8A-4147-A177-3AD203B41FA5}">
                      <a16:colId xmlns:a16="http://schemas.microsoft.com/office/drawing/2014/main" val="881350605"/>
                    </a:ext>
                  </a:extLst>
                </a:gridCol>
                <a:gridCol w="2212029">
                  <a:extLst>
                    <a:ext uri="{9D8B030D-6E8A-4147-A177-3AD203B41FA5}">
                      <a16:colId xmlns:a16="http://schemas.microsoft.com/office/drawing/2014/main" val="21965946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연도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매출액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 err="1"/>
                        <a:t>단워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억원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증가율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793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2017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3,799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833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2018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4,663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497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2019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6,400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801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10,538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676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15,660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665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18,290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784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0569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2ED567-06B3-4107-9773-BBB6BD78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E25476-B4D9-362F-595F-6D846299F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53067"/>
            <a:ext cx="6155266" cy="4351866"/>
          </a:xfrm>
        </p:spPr>
        <p:txBody>
          <a:bodyPr anchor="ctr">
            <a:normAutofit/>
          </a:bodyPr>
          <a:lstStyle/>
          <a:p>
            <a:endParaRPr lang="en-US" altLang="ko-KR" dirty="0"/>
          </a:p>
          <a:p>
            <a:endParaRPr lang="en-US" altLang="ko-KR" dirty="0"/>
          </a:p>
          <a:p/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51D8B-3775-4477-88B7-7B7C350D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0"/>
            <a:ext cx="4657344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901C3D-CFAE-460D-BD0E-7D22164D7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590212" y="0"/>
            <a:ext cx="1059921" cy="6858000"/>
          </a:xfrm>
          <a:prstGeom prst="line">
            <a:avLst/>
          </a:prstGeom>
          <a:ln w="9525">
            <a:solidFill>
              <a:srgbClr val="BFBFBF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7C0EA9-1437-4437-9D20-2BBDA1AA9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721600" y="3721395"/>
            <a:ext cx="4345560" cy="3136604"/>
          </a:xfrm>
          <a:prstGeom prst="line">
            <a:avLst/>
          </a:prstGeom>
          <a:ln w="9525">
            <a:solidFill>
              <a:srgbClr val="BFBFBF">
                <a:alpha val="69804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BB934D2B-85E2-4375-94EE-B66C16BF7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9B445E02-D785-4565-B842-9567BBC09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C153736-D102-4F57-9DE7-615AFC02B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BA407A52-66F4-4CDE-A726-FF79F3EC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D28FFB34-4FC3-46F5-B900-D3B774FD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205F7B13-ACB5-46BE-8070-0431266B1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D52A0D23-45DD-4DF4-ADE6-A81F409BB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510E2ED-2A5F-A9F7-EB3C-8A2E3CD5B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9658" y="1253067"/>
            <a:ext cx="4362342" cy="4351866"/>
          </a:xfrm>
        </p:spPr>
        <p:txBody>
          <a:bodyPr anchor="ctr">
            <a:norm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3984419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176735-AB18-3549-B700-8A3E6FF85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070" y="531962"/>
            <a:ext cx="8596668" cy="1320800"/>
          </a:xfrm>
        </p:spPr>
        <p:txBody>
          <a:bodyPr/>
          <a:lstStyle/>
          <a:p>
            <a:r>
              <a:rPr lang="ko-KR" altLang="en-US" dirty="0"/>
              <a:t>한국관광 선호도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84BD484A-D331-B03D-59D1-EC169F212D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1438542"/>
              </p:ext>
            </p:extLst>
          </p:nvPr>
        </p:nvGraphicFramePr>
        <p:xfrm>
          <a:off x="1818400" y="1220310"/>
          <a:ext cx="6575102" cy="30325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6400490-54D4-C782-53FD-8027405D58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465961"/>
              </p:ext>
            </p:extLst>
          </p:nvPr>
        </p:nvGraphicFramePr>
        <p:xfrm>
          <a:off x="1949570" y="4252823"/>
          <a:ext cx="5384681" cy="23722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2799">
                  <a:extLst>
                    <a:ext uri="{9D8B030D-6E8A-4147-A177-3AD203B41FA5}">
                      <a16:colId xmlns:a16="http://schemas.microsoft.com/office/drawing/2014/main" val="2976728852"/>
                    </a:ext>
                  </a:extLst>
                </a:gridCol>
                <a:gridCol w="1785941">
                  <a:extLst>
                    <a:ext uri="{9D8B030D-6E8A-4147-A177-3AD203B41FA5}">
                      <a16:colId xmlns:a16="http://schemas.microsoft.com/office/drawing/2014/main" val="4244556361"/>
                    </a:ext>
                  </a:extLst>
                </a:gridCol>
                <a:gridCol w="1785941">
                  <a:extLst>
                    <a:ext uri="{9D8B030D-6E8A-4147-A177-3AD203B41FA5}">
                      <a16:colId xmlns:a16="http://schemas.microsoft.com/office/drawing/2014/main" val="1827636145"/>
                    </a:ext>
                  </a:extLst>
                </a:gridCol>
              </a:tblGrid>
              <a:tr h="3953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나라</a:t>
                      </a:r>
                      <a:r>
                        <a:rPr lang="en-US" altLang="ko-KR" dirty="0" err="1"/>
                        <a:t>gksrnr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선호도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348149"/>
                  </a:ext>
                </a:extLst>
              </a:tr>
              <a:tr h="3953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베트남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85.6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873433"/>
                  </a:ext>
                </a:extLst>
              </a:tr>
              <a:tr h="3953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태국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81.8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196595"/>
                  </a:ext>
                </a:extLst>
              </a:tr>
              <a:tr h="3953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중국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77.4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068720"/>
                  </a:ext>
                </a:extLst>
              </a:tr>
              <a:tr h="3953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인도네시아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87.3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183263"/>
                  </a:ext>
                </a:extLst>
              </a:tr>
              <a:tr h="3953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필리핀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87.8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463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6876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2A49B-0EB9-0386-FB26-40523FEE4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한국여행정보 경로 입수 </a:t>
            </a:r>
            <a:r>
              <a:rPr lang="en-US" altLang="ko-KR" dirty="0"/>
              <a:t>1</a:t>
            </a:r>
            <a:r>
              <a:rPr lang="ko-KR" altLang="en-US" dirty="0"/>
              <a:t>순위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58F69BB5-168B-3865-3E94-667B8867C6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8896901"/>
              </p:ext>
            </p:extLst>
          </p:nvPr>
        </p:nvGraphicFramePr>
        <p:xfrm>
          <a:off x="1677323" y="2183026"/>
          <a:ext cx="6906696" cy="4065375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302232">
                  <a:extLst>
                    <a:ext uri="{9D8B030D-6E8A-4147-A177-3AD203B41FA5}">
                      <a16:colId xmlns:a16="http://schemas.microsoft.com/office/drawing/2014/main" val="730212348"/>
                    </a:ext>
                  </a:extLst>
                </a:gridCol>
                <a:gridCol w="2302232">
                  <a:extLst>
                    <a:ext uri="{9D8B030D-6E8A-4147-A177-3AD203B41FA5}">
                      <a16:colId xmlns:a16="http://schemas.microsoft.com/office/drawing/2014/main" val="3945760891"/>
                    </a:ext>
                  </a:extLst>
                </a:gridCol>
                <a:gridCol w="2302232">
                  <a:extLst>
                    <a:ext uri="{9D8B030D-6E8A-4147-A177-3AD203B41FA5}">
                      <a16:colId xmlns:a16="http://schemas.microsoft.com/office/drawing/2014/main" val="1628828524"/>
                    </a:ext>
                  </a:extLst>
                </a:gridCol>
              </a:tblGrid>
              <a:tr h="8130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평균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319712"/>
                  </a:ext>
                </a:extLst>
              </a:tr>
              <a:tr h="8130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인터넷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56.8%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44.1%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85763"/>
                  </a:ext>
                </a:extLst>
              </a:tr>
              <a:tr h="8130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친구 친지 동료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54%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26.5%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233931"/>
                  </a:ext>
                </a:extLst>
              </a:tr>
              <a:tr h="8130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여행사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25.6%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16.9%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670337"/>
                  </a:ext>
                </a:extLst>
              </a:tr>
              <a:tr h="8130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정보를 얻지 않았다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15.1%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4.3%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550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2798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7331D-0844-1AB9-282F-3C9A308BB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F3A053-C936-660E-235E-F84C8F4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나라별 유입경로</a:t>
            </a:r>
          </a:p>
        </p:txBody>
      </p:sp>
    </p:spTree>
    <p:extLst>
      <p:ext uri="{BB962C8B-B14F-4D97-AF65-F5344CB8AC3E}">
        <p14:creationId xmlns:p14="http://schemas.microsoft.com/office/powerpoint/2010/main" val="3900332933"/>
      </p:ext>
    </p:extLst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패싯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패싯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패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1530</TotalTime>
  <Words>264</Words>
  <Application>Microsoft Office PowerPoint</Application>
  <PresentationFormat>와이드스크린</PresentationFormat>
  <Paragraphs>92</Paragraphs>
  <Slides>10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맑은 고딕</vt:lpstr>
      <vt:lpstr>Arial</vt:lpstr>
      <vt:lpstr>Trebuchet MS</vt:lpstr>
      <vt:lpstr>Wingdings 3</vt:lpstr>
      <vt:lpstr>패싯</vt:lpstr>
      <vt:lpstr>K-Culture</vt:lpstr>
      <vt:lpstr>K-Culture 소개</vt:lpstr>
      <vt:lpstr>K-POP</vt:lpstr>
      <vt:lpstr>K-드라마</vt:lpstr>
      <vt:lpstr>K-뷰티</vt:lpstr>
      <vt:lpstr>K-웹툰 </vt:lpstr>
      <vt:lpstr>K-Culture의 글로벌 영향력</vt:lpstr>
      <vt:lpstr>한국관광 선호도</vt:lpstr>
      <vt:lpstr>한국여행정보 경로 입수 1순위</vt:lpstr>
      <vt:lpstr>나라별 유입경로</vt:lpstr>
      <vt:lpstr>K-Culture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Haegang Oh</dc:creator>
  <cp:lastModifiedBy>김경희</cp:lastModifiedBy>
  <cp:revision>36</cp:revision>
  <dcterms:created xsi:type="dcterms:W3CDTF">2025-03-18T04:44:51Z</dcterms:created>
  <dcterms:modified xsi:type="dcterms:W3CDTF">2025-04-23T00:28:02Z</dcterms:modified>
</cp:coreProperties>
</file>